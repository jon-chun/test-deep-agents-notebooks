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0" y="485477"/>
            <a:ext cx="1905000" cy="762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942677"/>
            <a:ext cx="7772400" cy="2194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spcAft>
                <a:spcPts val="2000"/>
              </a:spcAft>
              <a:buNone/>
            </a:pPr>
            <a:r>
              <a:rPr lang="en-US" sz="480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ISTANBUL:</a:t>
            </a:r>
            <a:endParaRPr lang="en-US" sz="4800" dirty="0"/>
          </a:p>
          <a:p>
            <a:pPr algn="ctr" indent="0" marL="0">
              <a:lnSpc>
                <a:spcPts val="5760"/>
              </a:lnSpc>
              <a:spcAft>
                <a:spcPts val="2000"/>
              </a:spcAft>
              <a:buNone/>
            </a:pPr>
            <a:r>
              <a:rPr lang="en-US" sz="480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STRATEGIC CROSSROADS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85800" y="3518148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Empires and International Relations Through History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4448324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0"/>
              </a:spcBef>
              <a:buNone/>
            </a:pPr>
            <a:r>
              <a:rPr lang="en-US" sz="1400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Relations Course • [Your Name] •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921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4001"/>
            <a:ext cx="9144000" cy="0"/>
          </a:xfrm>
          <a:prstGeom prst="line">
            <a:avLst/>
          </a:prstGeom>
          <a:noFill/>
          <a:ln w="762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ISTANBUL MATTERS IN IR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4901" y="1625501"/>
            <a:ext cx="7874198" cy="202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8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Istanbul as a </a:t>
            </a:r>
            <a:pPr algn="l" indent="0" marL="0">
              <a:lnSpc>
                <a:spcPts val="3080"/>
              </a:lnSpc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geopolitical hinge</a:t>
            </a:r>
            <a:pPr algn="l" indent="0" marL="0">
              <a:lnSpc>
                <a:spcPts val="308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Europe and Asia</a:t>
            </a:r>
            <a:endParaRPr lang="en-US" sz="2200" dirty="0"/>
          </a:p>
          <a:p>
            <a:pPr algn="l" marL="342900" indent="-342900">
              <a:lnSpc>
                <a:spcPts val="308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over the Bosporus &amp; Dardanelles straits</a:t>
            </a:r>
            <a:endParaRPr lang="en-US" sz="2200" dirty="0"/>
          </a:p>
          <a:p>
            <a:pPr algn="l" marL="342900" indent="-342900">
              <a:lnSpc>
                <a:spcPts val="3080"/>
              </a:lnSpc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themes: empire, trade, religion, diplomacy, great-power competition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921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4001"/>
            <a:ext cx="9144000" cy="0"/>
          </a:xfrm>
          <a:prstGeom prst="line">
            <a:avLst/>
          </a:prstGeom>
          <a:noFill/>
          <a:ln w="762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FOUNDATIONS: BYZANTIUM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72687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7th Century BCE – 330 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1600051"/>
            <a:ext cx="7874198" cy="182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Greek colony and early strategic importance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with Persia, Athens, Sparta, Rome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control of trade routes and nascent IR dynamics in the ancient world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921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4001"/>
            <a:ext cx="9144000" cy="0"/>
          </a:xfrm>
          <a:prstGeom prst="line">
            <a:avLst/>
          </a:prstGeom>
          <a:noFill/>
          <a:ln w="762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CONSTANTINOPLE &amp; BYZANTINE EMPIRE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68877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330–1453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1600051"/>
            <a:ext cx="7874198" cy="182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 imperial vision &amp; Christian capital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as a </a:t>
            </a:r>
            <a:pPr algn="l" indent="0" marL="0">
              <a:lnSpc>
                <a:spcPts val="2800"/>
              </a:lnSpc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cosmopolitan diplomatic hub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strategies (Theodosian Walls) &amp; interactions with Slavs, Arabs, and Western Europe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921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4001"/>
            <a:ext cx="9144000" cy="0"/>
          </a:xfrm>
          <a:prstGeom prst="line">
            <a:avLst/>
          </a:prstGeom>
          <a:noFill/>
          <a:ln w="762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CRUSADES &amp; EAST–WEST RELATIONS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1600051"/>
            <a:ext cx="7382470" cy="1472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Crusade (1204) and Latin occupation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Religious fractures shaping East–West diplomacy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consequences for Byzantium and European politics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92101"/>
          </a:xfrm>
          <a:prstGeom prst="rect">
            <a:avLst/>
          </a:prstGeom>
          <a:solidFill>
            <a:srgbClr val="951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4001"/>
            <a:ext cx="9144000" cy="0"/>
          </a:xfrm>
          <a:prstGeom prst="line">
            <a:avLst/>
          </a:prstGeom>
          <a:noFill/>
          <a:ln w="762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OF THE OTTOMANS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68877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Conquest of 1453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1600051"/>
            <a:ext cx="6111329" cy="1472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Mehmet II's geopolitical and military strategy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in regional power structures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Symbolic and practical significance in world politics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92101"/>
          </a:xfrm>
          <a:prstGeom prst="rect">
            <a:avLst/>
          </a:prstGeom>
          <a:solidFill>
            <a:srgbClr val="951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4001"/>
            <a:ext cx="9144000" cy="0"/>
          </a:xfrm>
          <a:prstGeom prst="line">
            <a:avLst/>
          </a:prstGeom>
          <a:noFill/>
          <a:ln w="762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ISTANBUL AS THE OTTOMAN CAPITAL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66972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15th–17th Centuries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1600051"/>
            <a:ext cx="6831211" cy="1472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Administrative, commercial, and cultural center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in governing a multiethnic empire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Diplomatic relations with Europe, Persia, and North Africa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92101"/>
          </a:xfrm>
          <a:prstGeom prst="rect">
            <a:avLst/>
          </a:prstGeom>
          <a:solidFill>
            <a:srgbClr val="9512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4001"/>
            <a:ext cx="9144000" cy="0"/>
          </a:xfrm>
          <a:prstGeom prst="line">
            <a:avLst/>
          </a:prstGeom>
          <a:noFill/>
          <a:ln w="762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 &amp; REFORM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72687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18th–19th Centuries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1600051"/>
            <a:ext cx="5814864" cy="1472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"Eastern Question" in European diplomacy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Tanzimat reforms and attempts at modernization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European influence and intervention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921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4001"/>
            <a:ext cx="9144000" cy="0"/>
          </a:xfrm>
          <a:prstGeom prst="line">
            <a:avLst/>
          </a:prstGeom>
          <a:noFill/>
          <a:ln w="762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WAR I &amp; END OF EMPIRE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4901" y="1600051"/>
            <a:ext cx="7043142" cy="1472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Istanbul's strategic position during the war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Allied occupation (1918–1923)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 of Ottoman rule and rise of nationalist movements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921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4001"/>
            <a:ext cx="9144000" cy="0"/>
          </a:xfrm>
          <a:prstGeom prst="line">
            <a:avLst/>
          </a:prstGeom>
          <a:noFill/>
          <a:ln w="762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REPUBLIC OF TURKEY &amp; MARGINALIZATION OF ISTANBUL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1600051"/>
            <a:ext cx="6300936" cy="1472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Ankara chosen as the new capital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Istanbul's transformation in early Republican reforms</a:t>
            </a:r>
            <a:endParaRPr lang="en-US" sz="2000" dirty="0"/>
          </a:p>
          <a:p>
            <a:pPr algn="l" marL="342900" indent="-342900">
              <a:lnSpc>
                <a:spcPts val="28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Shifts in identity, governance, and international role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921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4001"/>
            <a:ext cx="9144000" cy="0"/>
          </a:xfrm>
          <a:prstGeom prst="line">
            <a:avLst/>
          </a:prstGeom>
          <a:noFill/>
          <a:ln w="762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ISTANBUL IN THE COLD WAR &amp; MODERN GLOBAL POLITICS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1574602"/>
            <a:ext cx="7743676" cy="136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6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Turkey as a NATO member controlling maritime chokepoints</a:t>
            </a:r>
            <a:endParaRPr lang="en-US" sz="1900" dirty="0"/>
          </a:p>
          <a:p>
            <a:pPr algn="l" marL="342900" indent="-342900">
              <a:lnSpc>
                <a:spcPts val="266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of the Montreux Convention</a:t>
            </a:r>
            <a:endParaRPr lang="en-US" sz="1900" dirty="0"/>
          </a:p>
          <a:p>
            <a:pPr algn="l" marL="342900" indent="-342900">
              <a:lnSpc>
                <a:spcPts val="266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Istanbul as a modern global city: migration, trade, finance, soft power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921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4001"/>
            <a:ext cx="9144000" cy="0"/>
          </a:xfrm>
          <a:prstGeom prst="line">
            <a:avLst/>
          </a:prstGeom>
          <a:noFill/>
          <a:ln w="762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4901" y="1574602"/>
            <a:ext cx="80316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Historical Patterns: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4901" y="2171402"/>
            <a:ext cx="7874198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2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strategic importance across millennia</a:t>
            </a:r>
            <a:endParaRPr lang="en-US" sz="1800" dirty="0"/>
          </a:p>
          <a:p>
            <a:pPr algn="l" marL="342900" indent="-342900">
              <a:lnSpc>
                <a:spcPts val="252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for empire, diplomacy, and cultural exchange</a:t>
            </a:r>
            <a:endParaRPr lang="en-US" sz="1800" dirty="0"/>
          </a:p>
          <a:p>
            <a:pPr algn="l" marL="342900" indent="-342900">
              <a:lnSpc>
                <a:spcPts val="252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Istanbul's role in 21st-century geopolitics: EU-Turkey relations, Black Sea security, cultural diplomacy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4901" y="3965674"/>
            <a:ext cx="7874198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4175224"/>
            <a:ext cx="8031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5D1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for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Istanbul: A Strategic Crossroads of Empires</dc:title>
  <dc:subject>PptxGenJS Presentation</dc:subject>
  <dc:creator>Istanbul History Course</dc:creator>
  <cp:lastModifiedBy>Istanbul History Course</cp:lastModifiedBy>
  <cp:revision>1</cp:revision>
  <dcterms:created xsi:type="dcterms:W3CDTF">2025-11-13T02:46:58Z</dcterms:created>
  <dcterms:modified xsi:type="dcterms:W3CDTF">2025-11-13T02:46:58Z</dcterms:modified>
</cp:coreProperties>
</file>